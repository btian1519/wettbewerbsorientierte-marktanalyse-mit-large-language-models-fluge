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5"/>
  </p:notesMasterIdLst>
  <p:handoutMasterIdLst>
    <p:handoutMasterId r:id="rId6"/>
  </p:handoutMasterIdLst>
  <p:sldIdLst>
    <p:sldId id="353" r:id="rId2"/>
    <p:sldId id="351" r:id="rId3"/>
    <p:sldId id="352" r:id="rId4"/>
  </p:sldIdLst>
  <p:sldSz cx="12192000" cy="6858000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schert, Sandra" initials="PS" lastIdx="14" clrIdx="0">
    <p:extLst>
      <p:ext uri="{19B8F6BF-5375-455C-9EA6-DF929625EA0E}">
        <p15:presenceInfo xmlns:p15="http://schemas.microsoft.com/office/powerpoint/2012/main" userId="Paschert, Sand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9F"/>
    <a:srgbClr val="CAE7E7"/>
    <a:srgbClr val="89CCCF"/>
    <a:srgbClr val="00B1B7"/>
    <a:srgbClr val="2D7F83"/>
    <a:srgbClr val="9C9E9F"/>
    <a:srgbClr val="8EBAE5"/>
    <a:srgbClr val="646567"/>
    <a:srgbClr val="B3DBFF"/>
    <a:srgbClr val="7DA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DA7B9-39C8-40EF-8745-006A9665BD74}" v="658" dt="2026-04-29T14:52:09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18" autoAdjust="0"/>
    <p:restoredTop sz="94691"/>
  </p:normalViewPr>
  <p:slideViewPr>
    <p:cSldViewPr snapToGrid="0">
      <p:cViewPr varScale="1">
        <p:scale>
          <a:sx n="70" d="100"/>
          <a:sy n="70" d="100"/>
        </p:scale>
        <p:origin x="732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400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6B32BE99-0123-4714-B244-843AF167915E}" type="datetimeFigureOut">
              <a:rPr lang="de-DE" altLang="de-DE"/>
              <a:pPr>
                <a:defRPr/>
              </a:pPr>
              <a:t>30.04.2026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93644249-6D7A-4963-99CF-BBB433572CF9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defRPr sz="1000" smtClean="0"/>
            </a:lvl1pPr>
          </a:lstStyle>
          <a:p>
            <a:pPr>
              <a:defRPr/>
            </a:pPr>
            <a:fld id="{865FF3A9-3CDD-4208-82CA-51B3DCAC4392}" type="datetimeFigureOut">
              <a:rPr lang="de-DE" altLang="de-DE" smtClean="0"/>
              <a:pPr>
                <a:defRPr/>
              </a:pPr>
              <a:t>30.04.2026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eaLnBrk="1" hangingPunct="1">
              <a:defRPr sz="1000"/>
            </a:lvl1pPr>
          </a:lstStyle>
          <a:p>
            <a:fld id="{561A87E6-38E8-4E05-8E57-3F641CE0C8C8}" type="slidenum">
              <a:rPr lang="de-DE" altLang="de-DE" smtClean="0"/>
              <a:pPr/>
              <a:t>‹#›</a:t>
            </a:fld>
            <a:endParaRPr lang="de-DE" alt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4745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1.emf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oleObject" Target="../embeddings/oleObject4.bin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55.jpe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56.jpe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C01C877-984A-B815-594C-C9800939379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7903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01C877-984A-B815-594C-C980093937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7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649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1B9C74-0786-C518-D04A-64B8338261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5825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1B9C74-0786-C518-D04A-64B8338261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feld 3"/>
          <p:cNvSpPr txBox="1"/>
          <p:nvPr/>
        </p:nvSpPr>
        <p:spPr>
          <a:xfrm>
            <a:off x="-1601788" y="515938"/>
            <a:ext cx="1198563" cy="1784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7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585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E4A0375-8F13-6F7E-231B-BA2CDFA86E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4923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4A0375-8F13-6F7E-231B-BA2CDFA86E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-1601788" y="515938"/>
            <a:ext cx="684000" cy="40934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  <p:pic>
        <p:nvPicPr>
          <p:cNvPr id="316" name="Grafik 3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732" y="1998343"/>
            <a:ext cx="684000" cy="684000"/>
          </a:xfrm>
          <a:prstGeom prst="rect">
            <a:avLst/>
          </a:prstGeom>
        </p:spPr>
      </p:pic>
      <p:pic>
        <p:nvPicPr>
          <p:cNvPr id="317" name="Grafik 3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866" y="2726514"/>
            <a:ext cx="684000" cy="684000"/>
          </a:xfrm>
          <a:prstGeom prst="rect">
            <a:avLst/>
          </a:prstGeom>
        </p:spPr>
      </p:pic>
      <p:pic>
        <p:nvPicPr>
          <p:cNvPr id="318" name="Grafik 317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804" y="1998343"/>
            <a:ext cx="684000" cy="684000"/>
          </a:xfrm>
          <a:prstGeom prst="rect">
            <a:avLst/>
          </a:prstGeom>
        </p:spPr>
      </p:pic>
      <p:pic>
        <p:nvPicPr>
          <p:cNvPr id="319" name="Grafik 318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09" y="1998343"/>
            <a:ext cx="684000" cy="684000"/>
          </a:xfrm>
          <a:prstGeom prst="rect">
            <a:avLst/>
          </a:prstGeom>
        </p:spPr>
      </p:pic>
      <p:pic>
        <p:nvPicPr>
          <p:cNvPr id="320" name="Grafik 31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618" y="3435502"/>
            <a:ext cx="684000" cy="684000"/>
          </a:xfrm>
          <a:prstGeom prst="rect">
            <a:avLst/>
          </a:prstGeom>
        </p:spPr>
      </p:pic>
      <p:pic>
        <p:nvPicPr>
          <p:cNvPr id="321" name="Grafik 320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744" y="557761"/>
            <a:ext cx="684000" cy="684000"/>
          </a:xfrm>
          <a:prstGeom prst="rect">
            <a:avLst/>
          </a:prstGeom>
        </p:spPr>
      </p:pic>
      <p:pic>
        <p:nvPicPr>
          <p:cNvPr id="322" name="Grafik 32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749" y="2726514"/>
            <a:ext cx="684000" cy="684000"/>
          </a:xfrm>
          <a:prstGeom prst="rect">
            <a:avLst/>
          </a:prstGeom>
        </p:spPr>
      </p:pic>
      <p:pic>
        <p:nvPicPr>
          <p:cNvPr id="323" name="Grafik 32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886" y="1273218"/>
            <a:ext cx="684000" cy="684000"/>
          </a:xfrm>
          <a:prstGeom prst="rect">
            <a:avLst/>
          </a:prstGeom>
        </p:spPr>
      </p:pic>
      <p:pic>
        <p:nvPicPr>
          <p:cNvPr id="324" name="Grafik 32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668" y="1998335"/>
            <a:ext cx="684000" cy="681131"/>
          </a:xfrm>
          <a:prstGeom prst="rect">
            <a:avLst/>
          </a:prstGeom>
        </p:spPr>
      </p:pic>
      <p:pic>
        <p:nvPicPr>
          <p:cNvPr id="325" name="Grafik 32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689" y="3435502"/>
            <a:ext cx="684000" cy="684000"/>
          </a:xfrm>
          <a:prstGeom prst="rect">
            <a:avLst/>
          </a:prstGeom>
        </p:spPr>
      </p:pic>
      <p:pic>
        <p:nvPicPr>
          <p:cNvPr id="326" name="Grafik 325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798" y="3435502"/>
            <a:ext cx="684000" cy="684000"/>
          </a:xfrm>
          <a:prstGeom prst="rect">
            <a:avLst/>
          </a:prstGeom>
        </p:spPr>
      </p:pic>
      <p:pic>
        <p:nvPicPr>
          <p:cNvPr id="327" name="Grafik 32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34" y="1998343"/>
            <a:ext cx="684000" cy="684000"/>
          </a:xfrm>
          <a:prstGeom prst="rect">
            <a:avLst/>
          </a:prstGeom>
        </p:spPr>
      </p:pic>
      <p:pic>
        <p:nvPicPr>
          <p:cNvPr id="328" name="Grafik 327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832" y="2726514"/>
            <a:ext cx="684000" cy="684000"/>
          </a:xfrm>
          <a:prstGeom prst="rect">
            <a:avLst/>
          </a:prstGeom>
        </p:spPr>
      </p:pic>
      <p:pic>
        <p:nvPicPr>
          <p:cNvPr id="329" name="Grafik 32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489" y="2726514"/>
            <a:ext cx="684000" cy="684000"/>
          </a:xfrm>
          <a:prstGeom prst="rect">
            <a:avLst/>
          </a:prstGeom>
        </p:spPr>
      </p:pic>
      <p:pic>
        <p:nvPicPr>
          <p:cNvPr id="330" name="Grafik 329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382" y="1273218"/>
            <a:ext cx="684000" cy="684000"/>
          </a:xfrm>
          <a:prstGeom prst="rect">
            <a:avLst/>
          </a:prstGeom>
        </p:spPr>
      </p:pic>
      <p:pic>
        <p:nvPicPr>
          <p:cNvPr id="331" name="Grafik 330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692" y="2726514"/>
            <a:ext cx="684000" cy="684000"/>
          </a:xfrm>
          <a:prstGeom prst="rect">
            <a:avLst/>
          </a:prstGeom>
        </p:spPr>
      </p:pic>
      <p:pic>
        <p:nvPicPr>
          <p:cNvPr id="332" name="Grafik 331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46" y="557761"/>
            <a:ext cx="684000" cy="684000"/>
          </a:xfrm>
          <a:prstGeom prst="rect">
            <a:avLst/>
          </a:prstGeom>
        </p:spPr>
      </p:pic>
      <p:pic>
        <p:nvPicPr>
          <p:cNvPr id="335" name="Grafik 334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95" y="1273218"/>
            <a:ext cx="684000" cy="684000"/>
          </a:xfrm>
          <a:prstGeom prst="rect">
            <a:avLst/>
          </a:prstGeom>
        </p:spPr>
      </p:pic>
      <p:pic>
        <p:nvPicPr>
          <p:cNvPr id="336" name="Grafik 335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439" y="2726514"/>
            <a:ext cx="684000" cy="684000"/>
          </a:xfrm>
          <a:prstGeom prst="rect">
            <a:avLst/>
          </a:prstGeom>
        </p:spPr>
      </p:pic>
      <p:pic>
        <p:nvPicPr>
          <p:cNvPr id="340" name="Grafik 339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12" y="557761"/>
            <a:ext cx="684000" cy="684000"/>
          </a:xfrm>
          <a:prstGeom prst="rect">
            <a:avLst/>
          </a:prstGeom>
        </p:spPr>
      </p:pic>
      <p:pic>
        <p:nvPicPr>
          <p:cNvPr id="343" name="Grafik 342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995" y="1273218"/>
            <a:ext cx="684000" cy="684000"/>
          </a:xfrm>
          <a:prstGeom prst="rect">
            <a:avLst/>
          </a:prstGeom>
        </p:spPr>
      </p:pic>
      <p:pic>
        <p:nvPicPr>
          <p:cNvPr id="345" name="Grafik 344"/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680" y="1998343"/>
            <a:ext cx="684000" cy="684000"/>
          </a:xfrm>
          <a:prstGeom prst="rect">
            <a:avLst/>
          </a:prstGeom>
        </p:spPr>
      </p:pic>
      <p:pic>
        <p:nvPicPr>
          <p:cNvPr id="346" name="Grafik 345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344" y="1998343"/>
            <a:ext cx="684000" cy="684000"/>
          </a:xfrm>
          <a:prstGeom prst="rect">
            <a:avLst/>
          </a:prstGeom>
        </p:spPr>
      </p:pic>
      <p:pic>
        <p:nvPicPr>
          <p:cNvPr id="347" name="Grafik 346"/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963" y="1998343"/>
            <a:ext cx="684000" cy="684000"/>
          </a:xfrm>
          <a:prstGeom prst="rect">
            <a:avLst/>
          </a:prstGeom>
        </p:spPr>
      </p:pic>
      <p:pic>
        <p:nvPicPr>
          <p:cNvPr id="348" name="Grafik 347"/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471" y="1273218"/>
            <a:ext cx="684000" cy="684000"/>
          </a:xfrm>
          <a:prstGeom prst="rect">
            <a:avLst/>
          </a:prstGeom>
        </p:spPr>
      </p:pic>
      <p:pic>
        <p:nvPicPr>
          <p:cNvPr id="349" name="Grafik 348"/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118" y="2726514"/>
            <a:ext cx="684000" cy="684000"/>
          </a:xfrm>
          <a:prstGeom prst="rect">
            <a:avLst/>
          </a:prstGeom>
        </p:spPr>
      </p:pic>
      <p:pic>
        <p:nvPicPr>
          <p:cNvPr id="350" name="Grafik 349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10" y="2726514"/>
            <a:ext cx="684000" cy="684000"/>
          </a:xfrm>
          <a:prstGeom prst="rect">
            <a:avLst/>
          </a:prstGeom>
        </p:spPr>
      </p:pic>
      <p:pic>
        <p:nvPicPr>
          <p:cNvPr id="352" name="Grafik 351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069" y="1998343"/>
            <a:ext cx="684000" cy="684000"/>
          </a:xfrm>
          <a:prstGeom prst="rect">
            <a:avLst/>
          </a:prstGeom>
        </p:spPr>
      </p:pic>
      <p:pic>
        <p:nvPicPr>
          <p:cNvPr id="354" name="Grafik 353"/>
          <p:cNvPicPr>
            <a:picLocks noChangeAspect="1"/>
          </p:cNvPicPr>
          <p:nvPr userDrawn="1"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204" y="2726514"/>
            <a:ext cx="684000" cy="684000"/>
          </a:xfrm>
          <a:prstGeom prst="rect">
            <a:avLst/>
          </a:prstGeom>
        </p:spPr>
      </p:pic>
      <p:pic>
        <p:nvPicPr>
          <p:cNvPr id="355" name="Grafik 354"/>
          <p:cNvPicPr>
            <a:picLocks noChangeAspect="1"/>
          </p:cNvPicPr>
          <p:nvPr userDrawn="1"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512" y="1273218"/>
            <a:ext cx="684000" cy="684000"/>
          </a:xfrm>
          <a:prstGeom prst="rect">
            <a:avLst/>
          </a:prstGeom>
        </p:spPr>
      </p:pic>
      <p:pic>
        <p:nvPicPr>
          <p:cNvPr id="356" name="Grafik 355"/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637" y="1998343"/>
            <a:ext cx="684000" cy="684000"/>
          </a:xfrm>
          <a:prstGeom prst="rect">
            <a:avLst/>
          </a:prstGeom>
        </p:spPr>
      </p:pic>
      <p:pic>
        <p:nvPicPr>
          <p:cNvPr id="358" name="Grafik 357"/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882" y="3435502"/>
            <a:ext cx="684000" cy="684000"/>
          </a:xfrm>
          <a:prstGeom prst="rect">
            <a:avLst/>
          </a:prstGeom>
        </p:spPr>
      </p:pic>
      <p:pic>
        <p:nvPicPr>
          <p:cNvPr id="360" name="Grafik 359"/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365" y="1273218"/>
            <a:ext cx="684000" cy="684000"/>
          </a:xfrm>
          <a:prstGeom prst="rect">
            <a:avLst/>
          </a:prstGeom>
        </p:spPr>
      </p:pic>
      <p:pic>
        <p:nvPicPr>
          <p:cNvPr id="368" name="Grafik 367"/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129" y="3435502"/>
            <a:ext cx="684000" cy="684000"/>
          </a:xfrm>
          <a:prstGeom prst="rect">
            <a:avLst/>
          </a:prstGeom>
        </p:spPr>
      </p:pic>
      <p:pic>
        <p:nvPicPr>
          <p:cNvPr id="369" name="Grafik 368"/>
          <p:cNvPicPr>
            <a:picLocks noChangeAspect="1"/>
          </p:cNvPicPr>
          <p:nvPr userDrawn="1"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526" y="1998343"/>
            <a:ext cx="684000" cy="684000"/>
          </a:xfrm>
          <a:prstGeom prst="rect">
            <a:avLst/>
          </a:prstGeom>
        </p:spPr>
      </p:pic>
      <p:pic>
        <p:nvPicPr>
          <p:cNvPr id="370" name="Grafik 369"/>
          <p:cNvPicPr>
            <a:picLocks noChangeAspect="1"/>
          </p:cNvPicPr>
          <p:nvPr userDrawn="1"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338" y="2726514"/>
            <a:ext cx="684000" cy="684000"/>
          </a:xfrm>
          <a:prstGeom prst="rect">
            <a:avLst/>
          </a:prstGeom>
        </p:spPr>
      </p:pic>
      <p:pic>
        <p:nvPicPr>
          <p:cNvPr id="371" name="Grafik 370"/>
          <p:cNvPicPr>
            <a:picLocks noChangeAspect="1"/>
          </p:cNvPicPr>
          <p:nvPr userDrawn="1"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009" y="1998343"/>
            <a:ext cx="684000" cy="684000"/>
          </a:xfrm>
          <a:prstGeom prst="rect">
            <a:avLst/>
          </a:prstGeom>
        </p:spPr>
      </p:pic>
      <p:pic>
        <p:nvPicPr>
          <p:cNvPr id="376" name="Grafik 375"/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06" y="557761"/>
            <a:ext cx="684000" cy="684000"/>
          </a:xfrm>
          <a:prstGeom prst="rect">
            <a:avLst/>
          </a:prstGeom>
        </p:spPr>
      </p:pic>
      <p:pic>
        <p:nvPicPr>
          <p:cNvPr id="384" name="Grafik 383"/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196" y="1998343"/>
            <a:ext cx="684000" cy="684000"/>
          </a:xfrm>
          <a:prstGeom prst="rect">
            <a:avLst/>
          </a:prstGeom>
        </p:spPr>
      </p:pic>
      <p:pic>
        <p:nvPicPr>
          <p:cNvPr id="392" name="Grafik 391"/>
          <p:cNvPicPr>
            <a:picLocks noChangeAspect="1"/>
          </p:cNvPicPr>
          <p:nvPr userDrawn="1"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967" y="1273218"/>
            <a:ext cx="684000" cy="684000"/>
          </a:xfrm>
          <a:prstGeom prst="rect">
            <a:avLst/>
          </a:prstGeom>
        </p:spPr>
      </p:pic>
      <p:pic>
        <p:nvPicPr>
          <p:cNvPr id="393" name="Grafik 392"/>
          <p:cNvPicPr>
            <a:picLocks noChangeAspect="1"/>
          </p:cNvPicPr>
          <p:nvPr userDrawn="1"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336" y="557761"/>
            <a:ext cx="684000" cy="684000"/>
          </a:xfrm>
          <a:prstGeom prst="rect">
            <a:avLst/>
          </a:prstGeom>
        </p:spPr>
      </p:pic>
      <p:pic>
        <p:nvPicPr>
          <p:cNvPr id="403" name="Grafik 402"/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365" y="1273218"/>
            <a:ext cx="684000" cy="684000"/>
          </a:xfrm>
          <a:prstGeom prst="rect">
            <a:avLst/>
          </a:prstGeom>
        </p:spPr>
      </p:pic>
      <p:pic>
        <p:nvPicPr>
          <p:cNvPr id="404" name="Grafik 403"/>
          <p:cNvPicPr>
            <a:picLocks noChangeAspect="1"/>
          </p:cNvPicPr>
          <p:nvPr userDrawn="1"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183" y="1273218"/>
            <a:ext cx="684000" cy="684000"/>
          </a:xfrm>
          <a:prstGeom prst="rect">
            <a:avLst/>
          </a:prstGeom>
        </p:spPr>
      </p:pic>
      <p:pic>
        <p:nvPicPr>
          <p:cNvPr id="405" name="Grafik 404"/>
          <p:cNvPicPr>
            <a:picLocks noChangeAspect="1"/>
          </p:cNvPicPr>
          <p:nvPr userDrawn="1"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009" y="557761"/>
            <a:ext cx="684000" cy="684000"/>
          </a:xfrm>
          <a:prstGeom prst="rect">
            <a:avLst/>
          </a:prstGeom>
        </p:spPr>
      </p:pic>
      <p:pic>
        <p:nvPicPr>
          <p:cNvPr id="406" name="Grafik 405"/>
          <p:cNvPicPr>
            <a:picLocks noChangeAspect="1"/>
          </p:cNvPicPr>
          <p:nvPr userDrawn="1"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009" y="1273218"/>
            <a:ext cx="684000" cy="684000"/>
          </a:xfrm>
          <a:prstGeom prst="rect">
            <a:avLst/>
          </a:prstGeom>
        </p:spPr>
      </p:pic>
      <p:pic>
        <p:nvPicPr>
          <p:cNvPr id="408" name="Grafik 407"/>
          <p:cNvPicPr>
            <a:picLocks noChangeAspect="1"/>
          </p:cNvPicPr>
          <p:nvPr userDrawn="1"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207" y="2726514"/>
            <a:ext cx="684000" cy="684000"/>
          </a:xfrm>
          <a:prstGeom prst="rect">
            <a:avLst/>
          </a:prstGeom>
        </p:spPr>
      </p:pic>
      <p:pic>
        <p:nvPicPr>
          <p:cNvPr id="412" name="Grafik 411"/>
          <p:cNvPicPr>
            <a:picLocks noChangeAspect="1"/>
          </p:cNvPicPr>
          <p:nvPr userDrawn="1"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360" y="4147930"/>
            <a:ext cx="684000" cy="684000"/>
          </a:xfrm>
          <a:prstGeom prst="rect">
            <a:avLst/>
          </a:prstGeom>
        </p:spPr>
      </p:pic>
      <p:pic>
        <p:nvPicPr>
          <p:cNvPr id="416" name="Grafik 415"/>
          <p:cNvPicPr>
            <a:picLocks noChangeAspect="1"/>
          </p:cNvPicPr>
          <p:nvPr userDrawn="1"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331" y="1273218"/>
            <a:ext cx="684000" cy="684000"/>
          </a:xfrm>
          <a:prstGeom prst="rect">
            <a:avLst/>
          </a:prstGeom>
        </p:spPr>
      </p:pic>
      <p:pic>
        <p:nvPicPr>
          <p:cNvPr id="421" name="Grafik 420"/>
          <p:cNvPicPr>
            <a:picLocks noChangeAspect="1"/>
          </p:cNvPicPr>
          <p:nvPr userDrawn="1"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210" y="557761"/>
            <a:ext cx="684000" cy="684000"/>
          </a:xfrm>
          <a:prstGeom prst="rect">
            <a:avLst/>
          </a:prstGeom>
        </p:spPr>
      </p:pic>
      <p:pic>
        <p:nvPicPr>
          <p:cNvPr id="423" name="Grafik 422"/>
          <p:cNvPicPr>
            <a:picLocks noChangeAspect="1"/>
          </p:cNvPicPr>
          <p:nvPr userDrawn="1"/>
        </p:nvPicPr>
        <p:blipFill>
          <a:blip r:embed="rId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429" y="1998343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F745C52-B5AB-0D1B-8089-44325EEA23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7642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745C52-B5AB-0D1B-8089-44325EEA23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 userDrawn="1"/>
        </p:nvSpPr>
        <p:spPr>
          <a:xfrm>
            <a:off x="-1601788" y="515938"/>
            <a:ext cx="1198563" cy="1784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solidFill>
                  <a:schemeClr val="bg1"/>
                </a:solidFill>
                <a:latin typeface="+mn-lt"/>
                <a:ea typeface="+mn-ea"/>
              </a:rPr>
              <a:t>Bild zuschneiden unter: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  <a:ea typeface="+mn-ea"/>
              </a:rPr>
              <a:t>Format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  <a:ea typeface="+mn-ea"/>
              </a:rPr>
              <a:t>Zuschneiden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solidFill>
                  <a:schemeClr val="bg1"/>
                </a:solidFill>
                <a:latin typeface="+mn-lt"/>
                <a:ea typeface="+mn-ea"/>
              </a:rPr>
              <a:t>Zuschneidewerkzeug</a:t>
            </a:r>
            <a:r>
              <a:rPr lang="de-DE" sz="1000" dirty="0">
                <a:solidFill>
                  <a:schemeClr val="bg1"/>
                </a:solidFill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3" name="Rechteck 2"/>
          <p:cNvSpPr/>
          <p:nvPr userDrawn="1"/>
        </p:nvSpPr>
        <p:spPr>
          <a:xfrm>
            <a:off x="0" y="0"/>
            <a:ext cx="12801600" cy="4493342"/>
          </a:xfrm>
          <a:prstGeom prst="rect">
            <a:avLst/>
          </a:prstGeom>
          <a:solidFill>
            <a:srgbClr val="0054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004" y="781050"/>
            <a:ext cx="22479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4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3EB032D-9756-D57B-B52B-3B2BA77679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9126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EB032D-9756-D57B-B52B-3B2BA77679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erader Verbinder 4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3556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039FF64-378B-1C1D-544E-331DEEA4F2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5685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39FF64-378B-1C1D-544E-331DEEA4F2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r Verbinder 3"/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87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567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DCDE0B3-2C7F-329E-982F-9D35535A12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7447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CDE0B3-2C7F-329E-982F-9D35535A12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39337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263DEAB-683F-FB95-9B08-BE78C9CF5A9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2225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63DEAB-683F-FB95-9B08-BE78C9CF5A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FontTx/>
              <a:buNone/>
              <a:defRPr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601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CA5642-7CB1-0290-5174-1DC553C4D4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472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CA5642-7CB1-0290-5174-1DC553C4D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758341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1026A35-292E-84B3-8F03-83BE8999AD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404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026A35-292E-84B3-8F03-83BE8999A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0">
              <a:buNone/>
              <a:defRPr sz="900" baseline="0"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2244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7BD0446-2559-C71F-F2BC-8975B9BD77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71757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BD0446-2559-C71F-F2BC-8975B9BD77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/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9322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FEDF7F6-9B6B-9CBF-9F4E-35F95870B4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0976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EDF7F6-9B6B-9CBF-9F4E-35F95870B4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rtl="0" eaLnBrk="1" hangingPunct="1">
              <a:lnSpc>
                <a:spcPct val="90000"/>
              </a:lnSpc>
              <a:defRPr/>
            </a:pPr>
            <a:r>
              <a:rPr lang="de-DE" altLang="de-DE" sz="3200" b="1" dirty="0">
                <a:solidFill>
                  <a:schemeClr val="tx2"/>
                </a:solidFill>
              </a:rPr>
              <a:t>Vielen Dank</a:t>
            </a:r>
            <a:br>
              <a:rPr lang="de-DE" altLang="de-DE" sz="3200" b="1" dirty="0">
                <a:solidFill>
                  <a:schemeClr val="tx2"/>
                </a:solidFill>
              </a:rPr>
            </a:br>
            <a:r>
              <a:rPr lang="de-DE" altLang="de-DE" sz="3200" b="1" dirty="0">
                <a:solidFill>
                  <a:schemeClr val="tx2"/>
                </a:solidFill>
              </a:rPr>
              <a:t>für </a:t>
            </a:r>
            <a:r>
              <a:rPr lang="de-DE" altLang="de-DE" sz="3200" b="1">
                <a:solidFill>
                  <a:schemeClr val="tx2"/>
                </a:solidFill>
              </a:rPr>
              <a:t>Ihre Aufmerksamkeit</a:t>
            </a:r>
            <a:endParaRPr lang="de-DE" altLang="de-DE" sz="3200" b="1" dirty="0">
              <a:solidFill>
                <a:schemeClr val="tx2"/>
              </a:solidFill>
            </a:endParaRPr>
          </a:p>
        </p:txBody>
      </p:sp>
      <p:pic>
        <p:nvPicPr>
          <p:cNvPr id="4" name="Grafik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61514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14198A7-348E-3988-7EF7-E15DB893939C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6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6" imgW="425" imgH="426" progId="TCLayout.ActiveDocument.1">
                  <p:embed/>
                </p:oleObj>
              </mc:Choice>
              <mc:Fallback>
                <p:oleObj name="think-cell Folie" r:id="rId1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4198A7-348E-3988-7EF7-E15DB89393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Grafik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rtl="0" eaLnBrk="1" hangingPunct="1">
              <a:defRPr/>
            </a:pPr>
            <a:r>
              <a:rPr lang="de-DE" altLang="de-DE" sz="900" dirty="0">
                <a:solidFill>
                  <a:schemeClr val="tx2"/>
                </a:solidFill>
              </a:rPr>
              <a:t>Wettbewerbsorientierte Marktanalyse mit Large Language Models</a:t>
            </a:r>
          </a:p>
          <a:p>
            <a:pPr rtl="0" eaLnBrk="1" hangingPunct="1">
              <a:defRPr/>
            </a:pPr>
            <a:r>
              <a:rPr lang="de-DE" altLang="de-DE" sz="900" baseline="0" dirty="0">
                <a:solidFill>
                  <a:schemeClr val="tx2"/>
                </a:solidFill>
              </a:rPr>
              <a:t>RWTH Aachen University  I  Research Group Electronic Business  I </a:t>
            </a:r>
            <a:r>
              <a:rPr lang="de-DE" altLang="de-DE" sz="900" baseline="0" dirty="0" err="1">
                <a:solidFill>
                  <a:schemeClr val="tx2"/>
                </a:solidFill>
              </a:rPr>
              <a:t>Yurou</a:t>
            </a:r>
            <a:r>
              <a:rPr lang="de-DE" altLang="de-DE" sz="900" baseline="0" dirty="0">
                <a:solidFill>
                  <a:schemeClr val="tx2"/>
                </a:solidFill>
              </a:rPr>
              <a:t> Zhang I  April 2026</a:t>
            </a:r>
            <a:endParaRPr lang="de-DE" altLang="de-DE" sz="900" dirty="0">
              <a:solidFill>
                <a:schemeClr val="tx2"/>
              </a:solidFill>
            </a:endParaRPr>
          </a:p>
          <a:p>
            <a:pPr rtl="0" eaLnBrk="1" hangingPunct="1">
              <a:defRPr/>
            </a:pPr>
            <a:endParaRPr lang="de-DE" altLang="de-DE" sz="900" dirty="0">
              <a:solidFill>
                <a:schemeClr val="tx2"/>
              </a:solidFill>
            </a:endParaRP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rtl="0" eaLnBrk="1" hangingPunct="1"/>
            <a:fld id="{DF93E05B-4F25-41CE-AAEA-99D7F24FD381}" type="slidenum">
              <a:rPr lang="de-DE" altLang="de-DE" sz="900">
                <a:solidFill>
                  <a:schemeClr val="tx2"/>
                </a:solidFill>
              </a:rPr>
              <a:pPr rtl="0" eaLnBrk="1" hangingPunct="1"/>
              <a:t>‹#›</a:t>
            </a:fld>
            <a:endParaRPr lang="de-DE" altLang="de-DE" sz="9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8" r:id="rId4"/>
    <p:sldLayoutId id="2147483882" r:id="rId5"/>
    <p:sldLayoutId id="2147483883" r:id="rId6"/>
    <p:sldLayoutId id="2147483887" r:id="rId7"/>
    <p:sldLayoutId id="2147483876" r:id="rId8"/>
    <p:sldLayoutId id="2147483877" r:id="rId9"/>
    <p:sldLayoutId id="2147483884" r:id="rId10"/>
    <p:sldLayoutId id="2147483885" r:id="rId11"/>
    <p:sldLayoutId id="2147483878" r:id="rId12"/>
    <p:sldLayoutId id="2147483886" r:id="rId1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ata.org/en/pressroom/2025-releases/2025-06-02-01/" TargetMode="External"/><Relationship Id="rId3" Type="http://schemas.openxmlformats.org/officeDocument/2006/relationships/notesSlide" Target="../notesSlides/notesSlide1.xml"/><Relationship Id="rId7" Type="http://schemas.openxmlformats.org/officeDocument/2006/relationships/hyperlink" Target="https://www.zdfheute.de/wirtschaft/unternehmen/lufthansa-cityline-kurzstreckenfluege-gestrichen-100.html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4.xml"/><Relationship Id="rId6" Type="http://schemas.openxmlformats.org/officeDocument/2006/relationships/image" Target="../media/image5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D86E5-AEA3-1945-683E-6E29E73727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Wettbewerbsorientierte Marktanalyse im europäischen Flugmarkt mit LLMs – Entscheidungsunterstützung für Kapazitätsplanung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6DBCF-D33C-E873-CCCE-4BE64199B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00" y="3977496"/>
            <a:ext cx="11484000" cy="1655762"/>
          </a:xfrm>
        </p:spPr>
        <p:txBody>
          <a:bodyPr/>
          <a:lstStyle/>
          <a:p>
            <a:r>
              <a:rPr lang="en-US"/>
              <a:t>Tianyang Bai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15BA14-28A8-FB08-778D-9CE71BC8DE4A}"/>
              </a:ext>
            </a:extLst>
          </p:cNvPr>
          <p:cNvSpPr txBox="1"/>
          <p:nvPr/>
        </p:nvSpPr>
        <p:spPr>
          <a:xfrm>
            <a:off x="3995928" y="283464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FFFFFF"/>
                </a:solidFill>
              </a:rPr>
              <a:t>✈  </a:t>
            </a:r>
            <a:r>
              <a:rPr sz="4200" b="1" i="0" dirty="0" err="1">
                <a:solidFill>
                  <a:srgbClr val="FFFFFF"/>
                </a:solidFill>
              </a:rPr>
              <a:t>FlightScope</a:t>
            </a:r>
            <a:r>
              <a:rPr sz="4200" b="1" i="0" dirty="0">
                <a:solidFill>
                  <a:srgbClr val="FFFFFF"/>
                </a:solidFill>
              </a:rPr>
              <a:t> AI</a:t>
            </a:r>
          </a:p>
        </p:txBody>
      </p:sp>
    </p:spTree>
    <p:extLst>
      <p:ext uri="{BB962C8B-B14F-4D97-AF65-F5344CB8AC3E}">
        <p14:creationId xmlns:p14="http://schemas.microsoft.com/office/powerpoint/2010/main" val="1737627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D7F46B-91CB-6131-D525-8DF2DB8C28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5304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5" imgH="426" progId="TCLayout.ActiveDocument.1">
                  <p:embed/>
                </p:oleObj>
              </mc:Choice>
              <mc:Fallback>
                <p:oleObj name="think-cell Folie" r:id="rId4" imgW="425" imgH="42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D7F46B-91CB-6131-D525-8DF2DB8C28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A76A271-2885-0635-F814-CCCD9644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noProof="0" dirty="0"/>
              <a:t>Ein dynamischer, datenintensiver Markt mit relevanten Ineffizienzen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2E73FA-0485-C948-816E-1BBC18B5B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noProof="0" dirty="0"/>
              <a:t>Motivation und Branche: Marktlücken und </a:t>
            </a:r>
            <a:r>
              <a:rPr lang="de-DE" dirty="0"/>
              <a:t>Ü</a:t>
            </a:r>
            <a:r>
              <a:rPr lang="de-DE" noProof="0" dirty="0" err="1"/>
              <a:t>ber</a:t>
            </a:r>
            <a:r>
              <a:rPr lang="de-DE" dirty="0"/>
              <a:t>k</a:t>
            </a:r>
            <a:r>
              <a:rPr lang="de-DE" noProof="0" dirty="0" err="1"/>
              <a:t>apazitäten</a:t>
            </a:r>
            <a:r>
              <a:rPr lang="de-DE" noProof="0" dirty="0"/>
              <a:t> in der Passagierluftfahrt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DE88248-2C3C-B374-00CE-6E6A5E54ED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117" y="3452773"/>
            <a:ext cx="5683767" cy="1983291"/>
          </a:xfrm>
        </p:spPr>
        <p:txBody>
          <a:bodyPr anchor="ctr" anchorCtr="0"/>
          <a:lstStyle/>
          <a:p>
            <a:r>
              <a:rPr lang="de-DE" noProof="0" dirty="0"/>
              <a:t>Hohe Relevanz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Dynamischer Markt </a:t>
            </a:r>
            <a:r>
              <a:rPr lang="de-DE" dirty="0"/>
              <a:t>mit </a:t>
            </a:r>
            <a:r>
              <a:rPr lang="de-DE" noProof="0" dirty="0"/>
              <a:t>~ USD 700 </a:t>
            </a:r>
            <a:r>
              <a:rPr lang="de-DE" noProof="0" dirty="0" err="1"/>
              <a:t>bn</a:t>
            </a:r>
            <a:r>
              <a:rPr lang="de-DE" noProof="0" dirty="0"/>
              <a:t> Volumen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Diskrete Angebotsentscheidungen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Inhärente Ineffizienzen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0C58688-77FD-1CBB-3AC1-53453D699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17" y="1684801"/>
            <a:ext cx="11484000" cy="1744199"/>
          </a:xfrm>
          <a:prstGeom prst="rect">
            <a:avLst/>
          </a:prstGeom>
          <a:ln>
            <a:solidFill>
              <a:srgbClr val="00549F"/>
            </a:solidFill>
          </a:ln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83C41CD-B0B1-CDFF-D154-5C43C40149FE}"/>
              </a:ext>
            </a:extLst>
          </p:cNvPr>
          <p:cNvSpPr txBox="1">
            <a:spLocks/>
          </p:cNvSpPr>
          <p:nvPr/>
        </p:nvSpPr>
        <p:spPr>
          <a:xfrm>
            <a:off x="6125117" y="3452773"/>
            <a:ext cx="5742000" cy="198329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Tx/>
              <a:buNone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Gute Umsetzbarkeit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Datenintensiver Markt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Verfügbarkeit der Daten im 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Möglichkeit zur Testung des Tools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65A23F-1945-B4CB-B0AB-BC84718C02C3}"/>
              </a:ext>
            </a:extLst>
          </p:cNvPr>
          <p:cNvSpPr txBox="1"/>
          <p:nvPr/>
        </p:nvSpPr>
        <p:spPr>
          <a:xfrm>
            <a:off x="383117" y="5777120"/>
            <a:ext cx="85074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Quellen: </a:t>
            </a:r>
            <a:r>
              <a:rPr lang="de-DE" sz="800" dirty="0">
                <a:hlinkClick r:id="rId7"/>
              </a:rPr>
              <a:t>https://www.zdfheute.de/wirtschaft/unternehmen/lufthansa-cityline-kurzstreckenfluege-gestrichen-100.html</a:t>
            </a:r>
            <a:r>
              <a:rPr lang="de-DE" sz="800" dirty="0"/>
              <a:t>; </a:t>
            </a:r>
            <a:r>
              <a:rPr lang="de-DE" sz="800" dirty="0">
                <a:hlinkClick r:id="rId8"/>
              </a:rPr>
              <a:t>https://www.iata.org/en/pressroom/2025-releases/2025-06-02-01/</a:t>
            </a:r>
            <a:r>
              <a:rPr lang="de-DE" sz="8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4870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E42DBA-4B05-73F4-0FF8-02377365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Wertschöpfungspotenzial der identifizierten Marktlücken und Überkapazitäten schätzen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6F028A-190D-49C0-E077-7ECEFA7DC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Willingness</a:t>
            </a:r>
            <a:r>
              <a:rPr lang="de-DE" dirty="0"/>
              <a:t>-</a:t>
            </a:r>
            <a:r>
              <a:rPr lang="de-DE" dirty="0" err="1"/>
              <a:t>to</a:t>
            </a:r>
            <a:r>
              <a:rPr lang="de-DE" dirty="0"/>
              <a:t>-Pay, Preis und Kosten mit dem richtigen LLM-</a:t>
            </a:r>
            <a:r>
              <a:rPr lang="de-DE" dirty="0" err="1"/>
              <a:t>Promting</a:t>
            </a:r>
            <a:r>
              <a:rPr lang="de-DE" dirty="0"/>
              <a:t> schätzen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2671889-C0EE-D440-F9EE-E6849411EE83}"/>
              </a:ext>
            </a:extLst>
          </p:cNvPr>
          <p:cNvSpPr txBox="1"/>
          <p:nvPr/>
        </p:nvSpPr>
        <p:spPr>
          <a:xfrm>
            <a:off x="875428" y="1807976"/>
            <a:ext cx="2397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Fine-</a:t>
            </a:r>
            <a:r>
              <a:rPr lang="de-DE" sz="1400" dirty="0" err="1"/>
              <a:t>Tuned</a:t>
            </a:r>
            <a:r>
              <a:rPr lang="de-DE" sz="1400" dirty="0"/>
              <a:t> LLM </a:t>
            </a:r>
            <a:r>
              <a:rPr lang="de-DE" sz="1400" dirty="0" err="1"/>
              <a:t>Prompting</a:t>
            </a:r>
            <a:r>
              <a:rPr lang="de-DE" sz="1400" dirty="0"/>
              <a:t> für WTP-Schätzung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5F78FB4-95F7-A8E8-DC2E-6DEFFFF0EB1B}"/>
              </a:ext>
            </a:extLst>
          </p:cNvPr>
          <p:cNvSpPr txBox="1"/>
          <p:nvPr/>
        </p:nvSpPr>
        <p:spPr>
          <a:xfrm>
            <a:off x="6577996" y="3723696"/>
            <a:ext cx="17851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Chain-</a:t>
            </a:r>
            <a:r>
              <a:rPr lang="de-DE" sz="1400" dirty="0" err="1"/>
              <a:t>of</a:t>
            </a:r>
            <a:r>
              <a:rPr lang="de-DE" sz="1400" dirty="0"/>
              <a:t>-</a:t>
            </a:r>
            <a:r>
              <a:rPr lang="de-DE" sz="1400" dirty="0" err="1"/>
              <a:t>Thought</a:t>
            </a:r>
            <a:r>
              <a:rPr lang="de-DE" sz="1400" dirty="0"/>
              <a:t> </a:t>
            </a:r>
            <a:r>
              <a:rPr lang="de-DE" sz="1400" dirty="0" err="1"/>
              <a:t>Prompting</a:t>
            </a:r>
            <a:r>
              <a:rPr lang="de-DE" sz="1400" dirty="0"/>
              <a:t> für Kostenschätzung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7F94413-C7A6-B1B1-0E85-56EAA6DAD894}"/>
              </a:ext>
            </a:extLst>
          </p:cNvPr>
          <p:cNvSpPr txBox="1"/>
          <p:nvPr/>
        </p:nvSpPr>
        <p:spPr>
          <a:xfrm>
            <a:off x="237986" y="5594419"/>
            <a:ext cx="89807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1] </a:t>
            </a:r>
            <a:r>
              <a:rPr lang="de-DE" sz="800" dirty="0"/>
              <a:t>Brand, J., Israeli, A., &amp; </a:t>
            </a:r>
            <a:r>
              <a:rPr lang="de-DE" sz="800" dirty="0" err="1"/>
              <a:t>Ngwe</a:t>
            </a:r>
            <a:r>
              <a:rPr lang="de-DE" sz="800" dirty="0"/>
              <a:t>, D. (2023). </a:t>
            </a:r>
            <a:r>
              <a:rPr lang="de-DE" sz="800" dirty="0" err="1"/>
              <a:t>Using</a:t>
            </a:r>
            <a:r>
              <a:rPr lang="de-DE" sz="800" dirty="0"/>
              <a:t> LLMs </a:t>
            </a:r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market</a:t>
            </a:r>
            <a:r>
              <a:rPr lang="de-DE" sz="800" dirty="0"/>
              <a:t> </a:t>
            </a:r>
            <a:r>
              <a:rPr lang="de-DE" sz="800" dirty="0" err="1"/>
              <a:t>research</a:t>
            </a:r>
            <a:r>
              <a:rPr lang="de-DE" sz="800" dirty="0"/>
              <a:t>. </a:t>
            </a:r>
            <a:r>
              <a:rPr lang="de-DE" sz="800" i="1" dirty="0"/>
              <a:t>Harvard </a:t>
            </a:r>
            <a:r>
              <a:rPr lang="de-DE" sz="800" i="1" dirty="0" err="1"/>
              <a:t>business</a:t>
            </a:r>
            <a:r>
              <a:rPr lang="de-DE" sz="800" i="1" dirty="0"/>
              <a:t> </a:t>
            </a:r>
            <a:r>
              <a:rPr lang="de-DE" sz="800" i="1" dirty="0" err="1"/>
              <a:t>school</a:t>
            </a:r>
            <a:r>
              <a:rPr lang="de-DE" sz="800" i="1" dirty="0"/>
              <a:t> </a:t>
            </a:r>
            <a:r>
              <a:rPr lang="de-DE" sz="800" i="1" dirty="0" err="1"/>
              <a:t>marketing</a:t>
            </a:r>
            <a:r>
              <a:rPr lang="de-DE" sz="800" i="1" dirty="0"/>
              <a:t> </a:t>
            </a:r>
            <a:r>
              <a:rPr lang="de-DE" sz="800" i="1" dirty="0" err="1"/>
              <a:t>unit</a:t>
            </a:r>
            <a:r>
              <a:rPr lang="de-DE" sz="800" i="1" dirty="0"/>
              <a:t> </a:t>
            </a:r>
            <a:r>
              <a:rPr lang="de-DE" sz="800" i="1" dirty="0" err="1"/>
              <a:t>working</a:t>
            </a:r>
            <a:r>
              <a:rPr lang="de-DE" sz="800" i="1" dirty="0"/>
              <a:t> </a:t>
            </a:r>
            <a:r>
              <a:rPr lang="de-DE" sz="800" i="1" dirty="0" err="1"/>
              <a:t>paper</a:t>
            </a:r>
            <a:r>
              <a:rPr lang="de-DE" sz="800" dirty="0"/>
              <a:t>, (23-062).</a:t>
            </a:r>
          </a:p>
          <a:p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</a:t>
            </a:r>
            <a:r>
              <a:rPr lang="de-DE" sz="800" dirty="0">
                <a:solidFill>
                  <a:srgbClr val="222222"/>
                </a:solidFill>
              </a:rPr>
              <a:t>2] </a:t>
            </a:r>
            <a:r>
              <a:rPr lang="de-DE" sz="800" dirty="0" err="1">
                <a:solidFill>
                  <a:srgbClr val="222222"/>
                </a:solidFill>
              </a:rPr>
              <a:t>tbd</a:t>
            </a:r>
            <a:r>
              <a:rPr lang="de-DE" sz="800" dirty="0">
                <a:solidFill>
                  <a:srgbClr val="222222"/>
                </a:solidFill>
              </a:rPr>
              <a:t>.</a:t>
            </a:r>
            <a:endParaRPr lang="de-DE" sz="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[3]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Ghimire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P., Kim, K.,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Stentz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T., &amp; Roy, T. (2026). Modular Chain-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Thought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CoT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for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LLM-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Conceptual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Construction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Cost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Estimation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de-DE" sz="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Buildings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de-DE" sz="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16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396</a:t>
            </a:r>
            <a:r>
              <a:rPr lang="de-DE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de-DE" sz="900" dirty="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CE611FA2-0EE1-1FE5-B7EF-08659CC8E34F}"/>
              </a:ext>
            </a:extLst>
          </p:cNvPr>
          <p:cNvCxnSpPr>
            <a:cxnSpLocks/>
          </p:cNvCxnSpPr>
          <p:nvPr/>
        </p:nvCxnSpPr>
        <p:spPr>
          <a:xfrm>
            <a:off x="10346398" y="2355714"/>
            <a:ext cx="0" cy="232421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EBF5C0E2-220B-8773-2C38-E2C94E59816B}"/>
              </a:ext>
            </a:extLst>
          </p:cNvPr>
          <p:cNvCxnSpPr>
            <a:cxnSpLocks/>
          </p:cNvCxnSpPr>
          <p:nvPr/>
        </p:nvCxnSpPr>
        <p:spPr>
          <a:xfrm>
            <a:off x="10206698" y="2353876"/>
            <a:ext cx="279400" cy="1489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F12F20B2-55CD-13F8-7F0E-120DFFD3DDC4}"/>
              </a:ext>
            </a:extLst>
          </p:cNvPr>
          <p:cNvCxnSpPr>
            <a:cxnSpLocks/>
          </p:cNvCxnSpPr>
          <p:nvPr/>
        </p:nvCxnSpPr>
        <p:spPr>
          <a:xfrm>
            <a:off x="10206698" y="4678435"/>
            <a:ext cx="279400" cy="1489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73449A25-A27E-25E5-5C9F-0E19ECD12243}"/>
              </a:ext>
            </a:extLst>
          </p:cNvPr>
          <p:cNvCxnSpPr>
            <a:cxnSpLocks/>
          </p:cNvCxnSpPr>
          <p:nvPr/>
        </p:nvCxnSpPr>
        <p:spPr>
          <a:xfrm>
            <a:off x="10206698" y="3258394"/>
            <a:ext cx="279400" cy="1489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93A47FE6-5104-95AE-012E-E81AF6843F1D}"/>
              </a:ext>
            </a:extLst>
          </p:cNvPr>
          <p:cNvSpPr txBox="1"/>
          <p:nvPr/>
        </p:nvSpPr>
        <p:spPr>
          <a:xfrm>
            <a:off x="10625798" y="2199987"/>
            <a:ext cx="728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WTP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2115E32-81FA-F46C-7812-2D0B7BDF6F3A}"/>
              </a:ext>
            </a:extLst>
          </p:cNvPr>
          <p:cNvSpPr txBox="1"/>
          <p:nvPr/>
        </p:nvSpPr>
        <p:spPr>
          <a:xfrm>
            <a:off x="10625797" y="4524546"/>
            <a:ext cx="948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Kosten</a:t>
            </a:r>
            <a:endParaRPr 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380EAD2-7360-2FCF-B7E4-235DEFD0848D}"/>
              </a:ext>
            </a:extLst>
          </p:cNvPr>
          <p:cNvSpPr txBox="1"/>
          <p:nvPr/>
        </p:nvSpPr>
        <p:spPr>
          <a:xfrm>
            <a:off x="10625796" y="3104505"/>
            <a:ext cx="948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Preis</a:t>
            </a:r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1D34120-EC74-3A30-806F-2069C4A1F3DB}"/>
              </a:ext>
            </a:extLst>
          </p:cNvPr>
          <p:cNvSpPr txBox="1"/>
          <p:nvPr/>
        </p:nvSpPr>
        <p:spPr>
          <a:xfrm>
            <a:off x="9451324" y="3812839"/>
            <a:ext cx="1510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tx2"/>
                </a:solidFill>
              </a:rPr>
              <a:t>GEWINN</a:t>
            </a:r>
            <a:endParaRPr lang="de-DE" b="1" dirty="0">
              <a:solidFill>
                <a:schemeClr val="tx2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F3CA52-F6FA-B7AA-3FCA-BEB93A2EF371}"/>
              </a:ext>
            </a:extLst>
          </p:cNvPr>
          <p:cNvSpPr/>
          <p:nvPr/>
        </p:nvSpPr>
        <p:spPr>
          <a:xfrm>
            <a:off x="548229" y="1843807"/>
            <a:ext cx="345110" cy="3077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0A0D67-1BE0-05F6-A5D1-8D68042B0518}"/>
              </a:ext>
            </a:extLst>
          </p:cNvPr>
          <p:cNvSpPr/>
          <p:nvPr/>
        </p:nvSpPr>
        <p:spPr>
          <a:xfrm>
            <a:off x="6267215" y="3820493"/>
            <a:ext cx="345110" cy="3077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953BC4-C330-1B60-5789-EFCC8AD7A1FA}"/>
              </a:ext>
            </a:extLst>
          </p:cNvPr>
          <p:cNvSpPr/>
          <p:nvPr/>
        </p:nvSpPr>
        <p:spPr>
          <a:xfrm>
            <a:off x="3542815" y="2821669"/>
            <a:ext cx="345110" cy="3077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F6E96CD-92A4-95DC-2F27-5C53948BE8D8}"/>
              </a:ext>
            </a:extLst>
          </p:cNvPr>
          <p:cNvSpPr/>
          <p:nvPr/>
        </p:nvSpPr>
        <p:spPr>
          <a:xfrm>
            <a:off x="413992" y="1712964"/>
            <a:ext cx="2840667" cy="386363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9D282BE-FAAB-1962-CE1B-B4EC39089425}"/>
              </a:ext>
            </a:extLst>
          </p:cNvPr>
          <p:cNvSpPr/>
          <p:nvPr/>
        </p:nvSpPr>
        <p:spPr>
          <a:xfrm>
            <a:off x="3394357" y="2689992"/>
            <a:ext cx="2571255" cy="288660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7EC5DFD-9CFB-F295-FDE7-62E612B287E9}"/>
              </a:ext>
            </a:extLst>
          </p:cNvPr>
          <p:cNvSpPr/>
          <p:nvPr/>
        </p:nvSpPr>
        <p:spPr>
          <a:xfrm>
            <a:off x="6144580" y="3723695"/>
            <a:ext cx="2345601" cy="18529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97A2F1FE-1414-CA3F-18E5-76B9193DA9BF}"/>
              </a:ext>
            </a:extLst>
          </p:cNvPr>
          <p:cNvCxnSpPr>
            <a:cxnSpLocks/>
          </p:cNvCxnSpPr>
          <p:nvPr/>
        </p:nvCxnSpPr>
        <p:spPr>
          <a:xfrm flipV="1">
            <a:off x="3254659" y="2368765"/>
            <a:ext cx="6735192" cy="19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>
            <a:extLst>
              <a:ext uri="{FF2B5EF4-FFF2-40B4-BE49-F238E27FC236}">
                <a16:creationId xmlns:a16="http://schemas.microsoft.com/office/drawing/2014/main" id="{F4ED79D0-6728-D6EE-577F-5CCE6F856802}"/>
              </a:ext>
            </a:extLst>
          </p:cNvPr>
          <p:cNvCxnSpPr>
            <a:cxnSpLocks/>
          </p:cNvCxnSpPr>
          <p:nvPr/>
        </p:nvCxnSpPr>
        <p:spPr>
          <a:xfrm>
            <a:off x="5965612" y="3258393"/>
            <a:ext cx="4024239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951E9D67-A640-A2FE-6486-B07DDC7E280E}"/>
              </a:ext>
            </a:extLst>
          </p:cNvPr>
          <p:cNvCxnSpPr>
            <a:cxnSpLocks/>
          </p:cNvCxnSpPr>
          <p:nvPr/>
        </p:nvCxnSpPr>
        <p:spPr>
          <a:xfrm>
            <a:off x="8490181" y="4678434"/>
            <a:ext cx="149967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rafik 38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C3189CE-480C-D846-A55F-93FF191CEA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20" y="2361045"/>
            <a:ext cx="2631675" cy="3031931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45E8BE21-F478-2D4B-D15A-7C181FC7053D}"/>
              </a:ext>
            </a:extLst>
          </p:cNvPr>
          <p:cNvSpPr txBox="1"/>
          <p:nvPr/>
        </p:nvSpPr>
        <p:spPr>
          <a:xfrm>
            <a:off x="3773622" y="2760114"/>
            <a:ext cx="22080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Ableitung Schätzpreis aus bestehenden Angeboten und Portalen</a:t>
            </a:r>
          </a:p>
        </p:txBody>
      </p:sp>
      <p:sp>
        <p:nvSpPr>
          <p:cNvPr id="43" name="Abgerundetes Rechteck 42">
            <a:extLst>
              <a:ext uri="{FF2B5EF4-FFF2-40B4-BE49-F238E27FC236}">
                <a16:creationId xmlns:a16="http://schemas.microsoft.com/office/drawing/2014/main" id="{7F93C6C3-37EF-5F1C-285A-5388243538F0}"/>
              </a:ext>
            </a:extLst>
          </p:cNvPr>
          <p:cNvSpPr/>
          <p:nvPr/>
        </p:nvSpPr>
        <p:spPr>
          <a:xfrm>
            <a:off x="6227023" y="4462360"/>
            <a:ext cx="2180713" cy="3077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Ziel &amp; erforderliche Logik</a:t>
            </a:r>
          </a:p>
        </p:txBody>
      </p:sp>
      <p:sp>
        <p:nvSpPr>
          <p:cNvPr id="44" name="Abgerundetes Rechteck 43">
            <a:extLst>
              <a:ext uri="{FF2B5EF4-FFF2-40B4-BE49-F238E27FC236}">
                <a16:creationId xmlns:a16="http://schemas.microsoft.com/office/drawing/2014/main" id="{BF87BCF8-7471-57D8-8CFA-CB8AB3ECB882}"/>
              </a:ext>
            </a:extLst>
          </p:cNvPr>
          <p:cNvSpPr/>
          <p:nvPr/>
        </p:nvSpPr>
        <p:spPr>
          <a:xfrm>
            <a:off x="6227023" y="4820614"/>
            <a:ext cx="2180713" cy="4311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Teilprobleme &amp; Zwischenstufen </a:t>
            </a:r>
          </a:p>
        </p:txBody>
      </p:sp>
      <p:sp>
        <p:nvSpPr>
          <p:cNvPr id="45" name="Abgerundetes Rechteck 44">
            <a:extLst>
              <a:ext uri="{FF2B5EF4-FFF2-40B4-BE49-F238E27FC236}">
                <a16:creationId xmlns:a16="http://schemas.microsoft.com/office/drawing/2014/main" id="{84E2EC70-FB4B-9EA0-062C-9B84FC359F4F}"/>
              </a:ext>
            </a:extLst>
          </p:cNvPr>
          <p:cNvSpPr/>
          <p:nvPr/>
        </p:nvSpPr>
        <p:spPr>
          <a:xfrm>
            <a:off x="6227023" y="5288515"/>
            <a:ext cx="2180713" cy="244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Detaillierte Beispiele</a:t>
            </a:r>
          </a:p>
        </p:txBody>
      </p:sp>
      <p:pic>
        <p:nvPicPr>
          <p:cNvPr id="47" name="Grafik 46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FE3636C3-5A7A-AA02-5B3E-4A70F4A0CB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60"/>
          <a:stretch>
            <a:fillRect/>
          </a:stretch>
        </p:blipFill>
        <p:spPr>
          <a:xfrm>
            <a:off x="3414187" y="3560333"/>
            <a:ext cx="2548136" cy="187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0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räsentation_Master_RWTH_Verwaltung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_Master_RWTH_Verwaltung_ohne_addin_16zu9.pot [Kompatibilitätsmodus]" id="{31793575-807D-424B-A95D-BD1FA51D6B9C}" vid="{EDE4B280-3FBA-4B2F-94A9-F36ED973D8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Praesentation_Master_RWTH_Verwaltung_16zu9</Template>
  <TotalTime>0</TotalTime>
  <Words>227</Words>
  <Application>Microsoft Office PowerPoint</Application>
  <PresentationFormat>Widescreen</PresentationFormat>
  <Paragraphs>32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Symbol</vt:lpstr>
      <vt:lpstr>Wingdings</vt:lpstr>
      <vt:lpstr>Präsentation_Master_RWTH_Verwaltung_16zu9</vt:lpstr>
      <vt:lpstr>think-cell Folie</vt:lpstr>
      <vt:lpstr>Wettbewerbsorientierte Marktanalyse im europäischen Flugmarkt mit LLMs – Entscheidungsunterstützung für Kapazitätsplanung</vt:lpstr>
      <vt:lpstr>Ein dynamischer, datenintensiver Markt mit relevanten Ineffizienzen</vt:lpstr>
      <vt:lpstr>Wertschöpfungspotenzial der identifizierten Marktlücken und Überkapazitäten schätzen  </vt:lpstr>
    </vt:vector>
  </TitlesOfParts>
  <Company>ZHV RWTH Aachen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Paschert, Sandra</dc:creator>
  <cp:lastModifiedBy>Tianyang Bai</cp:lastModifiedBy>
  <cp:revision>373</cp:revision>
  <dcterms:created xsi:type="dcterms:W3CDTF">2022-05-12T06:41:21Z</dcterms:created>
  <dcterms:modified xsi:type="dcterms:W3CDTF">2026-04-30T10:59:40Z</dcterms:modified>
</cp:coreProperties>
</file>