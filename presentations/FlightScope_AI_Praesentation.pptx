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✈  FlightScope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DDDFF"/>
                </a:solidFill>
              </a:rPr>
              <a:t>基于大模型的欧洲航空市场竞争分析与运力决策支持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84831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CCFF"/>
                </a:solidFill>
              </a:rPr>
              <a:t>Wettbewerbsorientierte Marktanalyse mit LLMs  ·  RWTH Aachen  ·  SoSe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383280"/>
            <a:ext cx="7616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5CAE9"/>
                </a:solidFill>
              </a:rPr>
              <a:t>团队成员：[姓名1]  ·  [姓名2]  ·  [姓名3]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69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2B0"/>
                </a:solidFill>
              </a:rPr>
              <a:t>30.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2B0"/>
                </a:solidFill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问题与动机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FF"/>
                </a:solidFill>
              </a:rPr>
              <a:t>为什么航空市场需要 LLM 驱动的竞争分析？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71323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73152" cy="7132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44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CAE9"/>
                </a:solidFill>
              </a:rPr>
              <a:t>航空公司竞争激烈，用户反馈数据海量且高度分散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11274552" cy="71323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73152" cy="7132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585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CAE9"/>
                </a:solidFill>
              </a:rPr>
              <a:t>纯人工竞品分析效率低、主观性强、难以持续更新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63240"/>
            <a:ext cx="11274552" cy="71323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73152" cy="7132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1729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CAE9"/>
                </a:solidFill>
              </a:rPr>
              <a:t>LLM 可以把大量非结构化评论转为可比较的结构化洞察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77639"/>
            <a:ext cx="11274552" cy="71323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77639"/>
            <a:ext cx="73152" cy="7132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87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CAE9"/>
                </a:solidFill>
              </a:rPr>
              <a:t>运营决策还缺少「价格」与「需求/客流」一体化数据支撑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92040"/>
            <a:ext cx="11274552" cy="71323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892040"/>
            <a:ext cx="73152" cy="7132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001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CAE9"/>
                </a:solidFill>
              </a:rPr>
              <a:t>目标：从【口碑对比】升级为【运力决策支持】工具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2B0"/>
                </a:solidFill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行业范围界定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FF"/>
                </a:solidFill>
              </a:rPr>
              <a:t>研究边界：欧洲短途/中途客运航线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566160" cy="22860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" cy="2286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28016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043"/>
                </a:solidFill>
              </a:rPr>
              <a:t>全服务航司（Network Carrier）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1645920"/>
            <a:ext cx="33832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• Lufthansa（德国）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• Air France（法国）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• KLM（荷兰）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188720"/>
            <a:ext cx="3566160" cy="22860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188720"/>
            <a:ext cx="54864" cy="2286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2816" y="128016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低成本航司（Low-Cost Carrier）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2816" y="1645920"/>
            <a:ext cx="33832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• Ryanair（爱尔兰）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• easyJet（英国）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• Wizz Air（匈牙利）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188720"/>
            <a:ext cx="3931920" cy="22860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54864" cy="2286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1856" y="1280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</a:rPr>
              <a:t>数据来源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1856" y="1645920"/>
            <a:ext cx="37490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• Trustpilot / App Store 评论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• 票价快照与价格趋势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• 需求代理：搜索热度、预订代理、评论量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• OTP / 准点率公开数据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03320"/>
            <a:ext cx="1145743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84048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研究焦点 → 德语与英语用户视角下，全服务 vs 低成本的多维度竞争格局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2B0"/>
                </a:solidFill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文献基础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FF"/>
                </a:solidFill>
              </a:rPr>
              <a:t>三篇文献如何支撑本工具的方法链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749039" cy="5120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49039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043"/>
                </a:solidFill>
              </a:rPr>
              <a:t>📖 Porter
Competitive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五力模型搭建市场竞争结构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识别行业盈利压力来源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→ 同业竞争强（价格/航线/时隙）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→ 用户议价能力高（比价透明）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→ 进入壁垒高（机队/时隙/监管）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作用：确定【为什么这个市场值得分析】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749039" cy="5120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749039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29844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📊 IPA + Kano
(Review-based)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区分基础项 / 绩效项 / 兴奋项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→ 基础项：安全、准点、规则透明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→ 绩效项：价格性价比、问题处理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→ 兴奋项：智能改签、优质 App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作用：确定【应该关注哪些维度】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3749039" cy="5120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749039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29844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</a:rPr>
              <a:t>🤖 LLM-Cure
(Review Analysis)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LLM 从评论中抽取优劣势与证据句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多竞争对手标准化评分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可解释的竞争情报矩阵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→ 方法直接迁移到航空场景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作用：提供【如何自动化分析】的技术范式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2B0"/>
                </a:solidFill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分析维度框架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FF"/>
                </a:solidFill>
              </a:rPr>
              <a:t>评论维度（LLM层）+ 决策维度（运力层）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669280" cy="74980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84048" cy="7498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2435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准点率与可靠性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72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B0"/>
                </a:solidFill>
              </a:rPr>
              <a:t>OTP、取消率、不正常航班处理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57400"/>
            <a:ext cx="5669280" cy="74980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057400"/>
            <a:ext cx="384048" cy="7498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1226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票价与收费透明度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4414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B0"/>
                </a:solidFill>
              </a:rPr>
              <a:t>价格清晰度、隐性费用、行李收费规则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26080"/>
            <a:ext cx="5669280" cy="74980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384048" cy="7498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090672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9809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客服与航变处理能力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3101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B0"/>
                </a:solidFill>
              </a:rPr>
              <a:t>响应速度、投诉解决率、IrrOps 服务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94759"/>
            <a:ext cx="5669280" cy="74980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794759"/>
            <a:ext cx="384048" cy="7498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959351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84962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数字体验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17880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B0"/>
                </a:solidFill>
              </a:rPr>
              <a:t>App/Web 质量、自助服务、在线值机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63440"/>
            <a:ext cx="5669280" cy="74980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663440"/>
            <a:ext cx="384048" cy="7498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828031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71830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乘机体验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47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B0"/>
                </a:solidFill>
              </a:rPr>
              <a:t>登机流程、座位舒适、行李体验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532120"/>
            <a:ext cx="5669280" cy="74980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532120"/>
            <a:ext cx="384048" cy="7498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696712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58698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退改签效率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916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B0"/>
                </a:solidFill>
              </a:rPr>
              <a:t>退款速度、改签便利性、规则公平性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↓ 扩展维度（运力决策层）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1600200"/>
            <a:ext cx="54864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1600200"/>
            <a:ext cx="384048" cy="8686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1801368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117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03136" y="16642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航线-时段价格水平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03136" y="203911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B0"/>
                </a:solidFill>
              </a:rPr>
              <a:t>票价时间序列、价格弹性、竞争对手定价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2651760"/>
            <a:ext cx="54864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2651760"/>
            <a:ext cx="384048" cy="8686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2852928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117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03136" y="27157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需求与客流指标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3136" y="309067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B0"/>
                </a:solidFill>
              </a:rPr>
              <a:t>搜索热度、预订代理、评论量趋势、座位供给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2B0"/>
                </a:solidFill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FlightScope AI — 工具方案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FF"/>
                </a:solidFill>
              </a:rPr>
              <a:t>端到端工作流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2606040" cy="18288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606040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C63FF"/>
                </a:solidFill>
              </a:rPr>
              <a:t>① 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CAE9"/>
                </a:solidFill>
              </a:rPr>
              <a:t>航司 + 航线 + 时间 + 数据来源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737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892B0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234440"/>
            <a:ext cx="2606040" cy="18288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234440"/>
            <a:ext cx="260604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353312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AA"/>
                </a:solidFill>
              </a:rPr>
              <a:t>② 采集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92024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CAE9"/>
                </a:solidFill>
              </a:rPr>
              <a:t>评论  ·  票价时间序列  ·  需求代理数据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737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892B0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234440"/>
            <a:ext cx="2606040" cy="18288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234440"/>
            <a:ext cx="2606040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53312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③ 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2024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CAE9"/>
                </a:solidFill>
              </a:rPr>
              <a:t>LLM 文本洞察  +  Forecast / 规则引擎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1737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892B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234440"/>
            <a:ext cx="2606040" cy="18288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234440"/>
            <a:ext cx="260604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353312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676"/>
                </a:solidFill>
              </a:rPr>
              <a:t>④ 可视化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92024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CAE9"/>
                </a:solidFill>
              </a:rPr>
              <a:t>雷达图  ·  排名  ·  趋势  ·  运力决策建议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37560"/>
            <a:ext cx="11274552" cy="26060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337560"/>
            <a:ext cx="73152" cy="26060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429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63FF"/>
                </a:solidFill>
              </a:rPr>
              <a:t>🔑  软件架构（API 策略）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931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• BYOK（Bring Your Own Key）：用户在 UI 输入自己的 API Key（Google Gemini 或其他 OpenAI-compatible 模型）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• Fallback → OpenRouter：主通道不可用时自动切换 OpenRouter，保障演示稳定性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• Engine 无关性：同一分析管道，可替换模型后端  ·  连接测试按钮即时验证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2B0"/>
                </a:solidFill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UI 设计概览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FF"/>
                </a:solidFill>
              </a:rPr>
              <a:t>Sidebar + 控制区 + 5个结果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377440" cy="52120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377440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</a:rPr>
              <a:t>⚙  Sidebar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2103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50">
                <a:solidFill>
                  <a:srgbClr val="C5CAE9"/>
                </a:solidFill>
              </a:rPr>
              <a:t>🔑 API &amp; Engine Settings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5CAE9"/>
                </a:solidFill>
              </a:rPr>
              <a:t>  · Key 输入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5CAE9"/>
                </a:solidFill>
              </a:rPr>
              <a:t>  · 模型通道选择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5CAE9"/>
                </a:solidFill>
              </a:rPr>
              <a:t>  · Test Connection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5CAE9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5CAE9"/>
                </a:solidFill>
              </a:rPr>
              <a:t>✈  航司选择 (4-8家)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5CAE9"/>
                </a:solidFill>
              </a:rPr>
              <a:t>📍 航线选择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5CAE9"/>
                </a:solidFill>
              </a:rPr>
              <a:t>📅 时间范围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5CAE9"/>
                </a:solidFill>
              </a:rPr>
              <a:t>📦 数据来源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5CAE9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5CAE9"/>
                </a:solidFill>
              </a:rPr>
              <a:t>▶  Run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188720"/>
            <a:ext cx="8869680" cy="640080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2801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主分析区  —  5 个结果 Tab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965960"/>
            <a:ext cx="1719072" cy="4297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1965960"/>
            <a:ext cx="171907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084831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C63FF"/>
                </a:solidFill>
              </a:rPr>
              <a:t>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606040"/>
            <a:ext cx="15361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CAE9"/>
                </a:solidFill>
              </a:rPr>
              <a:t>KPI 卡片 + 雷达图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0016" y="1965960"/>
            <a:ext cx="1719072" cy="4297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0016" y="1965960"/>
            <a:ext cx="171907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1456" y="2084831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D4AA"/>
                </a:solidFill>
              </a:rPr>
              <a:t>Dimension 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2606040"/>
            <a:ext cx="15361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CAE9"/>
                </a:solidFill>
              </a:rPr>
              <a:t>分维度排名 + 证据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3952" y="1965960"/>
            <a:ext cx="1719072" cy="4297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73952" y="1965960"/>
            <a:ext cx="171907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7043"/>
                </a:solidFill>
              </a:rPr>
              <a:t>Head-to-Head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606040"/>
            <a:ext cx="15361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CAE9"/>
                </a:solidFill>
              </a:rPr>
              <a:t>两家航司深度对比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47888" y="1965960"/>
            <a:ext cx="1719072" cy="4297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47888" y="1965960"/>
            <a:ext cx="1719072" cy="73152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7" y="2084831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CA28"/>
                </a:solidFill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2606040"/>
            <a:ext cx="15361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CAE9"/>
                </a:solidFill>
              </a:rPr>
              <a:t>原文证据句 + 问题模式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21824" y="1965960"/>
            <a:ext cx="1719072" cy="4297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21824" y="1965960"/>
            <a:ext cx="1719072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13264" y="2084831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E676"/>
                </a:solidFill>
              </a:rPr>
              <a:t>Capacity Planner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13264" y="2606040"/>
            <a:ext cx="15361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CAE9"/>
                </a:solidFill>
              </a:rPr>
              <a:t>Add/Hold/Reduce
机型 + 时段建议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2B0"/>
                </a:solidFill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MVP 与业务价值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FF"/>
                </a:solidFill>
              </a:rPr>
              <a:t>最小可用版本 + 可行动决策输出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92B0"/>
                </a:solidFill>
              </a:rPr>
              <a:t>MVP = 最小可用版本（Minimum Viable Product）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3749039" cy="48463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3749039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56231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</a:rPr>
              <a:t>竞争分析层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4-8 家航司对比雷达图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分维度证据化排名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两家航司 Head-to-Head 深度对比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关键主题时间趋势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737360"/>
            <a:ext cx="3749039" cy="48463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737360"/>
            <a:ext cx="3749039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856231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676"/>
                </a:solidFill>
              </a:rPr>
              <a:t>运力决策层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37744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航线级价格与需求监控（试点）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首版规则建议：Add / Hold / Reduce Flight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机型级别建议（小型 / 中型 / 大型窄体）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推荐出发时段（高峰 / 次高峰 / 非高峰）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737360"/>
            <a:ext cx="3749039" cy="48463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737360"/>
            <a:ext cx="3749039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856231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业务价值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7744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更快、更客观的竞争洞察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提前识别服务风险与差异化机会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回答核心运营问题：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  在时间点 t、航线 r 是否该加班次？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  应上多大机型？哪个时段更优？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2B0"/>
                </a:solidFill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Capacity Planner — 决策逻辑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FF"/>
                </a:solidFill>
              </a:rPr>
              <a:t>Input → Rule Engine →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017520" cy="5120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73152" cy="51206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533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043"/>
                </a:solidFill>
              </a:rPr>
              <a:t>📥  输入特征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800"/>
            <a:ext cx="2743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航线-时段价格与变化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需求代理（搜索热度、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  预订、评论量）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供给侧（班次数、座位）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竞争对手运力投放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运行质量（OTP、取消率）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5CAE9"/>
                </a:solidFill>
              </a:rPr>
              <a:t>• 日历因素（季节、节假日）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474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8892B0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234440"/>
            <a:ext cx="4114800" cy="5120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0" y="1234440"/>
            <a:ext cx="73152" cy="51206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41648" y="1353312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⚙  规则引擎（可解释）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1828800"/>
            <a:ext cx="3840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>步骤1: Demand Pressure Score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>步骤2: Supply Gap Score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>步骤3: Profitability Proxy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>步骤4: 运行风险折减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>步骤5: Final Score → 决策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>逻辑：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>需求高 + 供给缺口正 + 低风险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>  → Add Flight ✓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>指标中性 → Hold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>需求弱 / 高风险 → Reduce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474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8892B0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234440"/>
            <a:ext cx="3410712" cy="5120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1234440"/>
            <a:ext cx="73152" cy="51206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3648" y="135331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6"/>
                </a:solidFill>
              </a:rPr>
              <a:t>📊  输出建议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1828800"/>
            <a:ext cx="3063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>• Add / Hold / Reduce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>机型建议：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>• 中等需求 →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>  小型窄体机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>• 高需求峰时 →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>  中/大型窄体机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>时段建议：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>• 峰时（需求强+OTP稳）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>• 非峰（价格弹性高）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5CAE9"/>
                </a:solidFill>
              </a:rPr>
              <a:t>+ Top-3 依据 + 置信度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2B0"/>
                </a:solidFill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可行性 — 分阶段实现路径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FF"/>
                </a:solidFill>
              </a:rPr>
              <a:t>能做到吗？可以，分三个阶段。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657600" cy="50292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73152" cy="5029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C63FF"/>
                </a:solidFill>
              </a:rPr>
              <a:t>阶段 1
课程可交付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0312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✓ 评论 + 票价 + 需求代理数据集成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✓ 规则化 Add/Hold/Reduce 建议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✓ 机型 &amp; 时段启发式规则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✓ Streamlit 可点击 Demo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⏱  本学期内交付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34440"/>
            <a:ext cx="3657600" cy="50292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34440"/>
            <a:ext cx="73152" cy="5029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35331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</a:rPr>
              <a:t>阶段 2
中期扩展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10312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→ 航线-时段级时间序列预测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→ 历史数据回测验证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→ 多数据源对齐与校准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→ 自动化数据采集管道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234440"/>
            <a:ext cx="3657600" cy="50292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234440"/>
            <a:ext cx="73152" cy="50292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35331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676"/>
                </a:solidFill>
              </a:rPr>
              <a:t>阶段 3
产品化方向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10312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→ 网络级运力优化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→ 机队与时隙约束建模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→ 竞争对手反应情景分析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5CAE9"/>
                </a:solidFill>
              </a:rPr>
              <a:t>→ 燃油成本 / 季节性参数化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2B0"/>
                </a:solidFill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下一步计划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FF"/>
                </a:solidFill>
              </a:rPr>
              <a:t>行动项 → 下次演示前完成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80467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73152" cy="8046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</a:rPr>
              <a:t>📌 范围确认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298448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5CAE9"/>
                </a:solidFill>
              </a:rPr>
              <a:t>明确是否纳入机场维度，锁定 6-7 家目标航司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1274552" cy="80467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73152" cy="8046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📦 数据采集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304288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5CAE9"/>
                </a:solidFill>
              </a:rPr>
              <a:t>收集 2 家航司 × 2 条航线的评论、票价、需求代理数据（试点）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11274552" cy="80467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73152" cy="8046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</a:rPr>
              <a:t>🧩 维度固化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310128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5CAE9"/>
                </a:solidFill>
              </a:rPr>
              <a:t>最终确认 6+2 维度定义与 LLM 提示词模板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11274552" cy="80467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73152" cy="8046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97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⚙  规则实现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315968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5CAE9"/>
                </a:solidFill>
              </a:rPr>
              <a:t>实现 Add/Hold/Reduce + 机型建议的规则逻辑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12080"/>
            <a:ext cx="11274552" cy="80467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212080"/>
            <a:ext cx="73152" cy="8046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</a:rPr>
              <a:t>🖥  Demo 交付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5321808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5CAE9"/>
                </a:solidFill>
              </a:rPr>
              <a:t>可点击 Streamlit Demo，覆盖 Overview + Capacity Planner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263640"/>
            <a:ext cx="112745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92B0"/>
                </a:solidFill>
              </a:rPr>
              <a:t>FlightScope AI  ·  RWTH Aachen  ·  SoSe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2B0"/>
                </a:solidFill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